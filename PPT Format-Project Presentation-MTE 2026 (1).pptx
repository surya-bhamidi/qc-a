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79" r:id="rId4"/>
    <p:sldId id="260" r:id="rId5"/>
    <p:sldId id="259" r:id="rId6"/>
    <p:sldId id="261" r:id="rId7"/>
    <p:sldId id="280" r:id="rId8"/>
    <p:sldId id="281" r:id="rId9"/>
    <p:sldId id="282" r:id="rId10"/>
    <p:sldId id="283" r:id="rId11"/>
    <p:sldId id="262" r:id="rId12"/>
    <p:sldId id="263" r:id="rId13"/>
    <p:sldId id="264" r:id="rId14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CC9E53-B7E4-4902-A0AC-4EB6C425183C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9AF56A-2CBF-4093-82B2-3710848976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717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F01D1-E705-4656-A918-71E0035DA6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95289B-2362-4B48-9D76-97EB3244D7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431EC-DCB7-41B7-96AB-60B432632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CDD5A-A699-464F-935D-C03B6C041462}" type="datetime1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2B118E-9D59-4504-907C-DFBFDEB1E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&amp; Communication Engg., MANIT, Bhopal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CE964-3EC8-402F-8C86-DF82EF2CE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7271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617E5-754C-4FAF-AEB6-750961155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74B7E-33EE-4498-AF4D-83361322F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83E68-005B-46E0-89CF-CE80E55CD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C389C-E22E-4D2D-8A57-FFF16E88D45B}" type="datetime1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840E1-6AE7-408B-AF10-0F069D718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&amp; Communication Engg., MANIT, Bhopal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19B87-4FAF-412C-A681-5C603B9B0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2312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CA4F6-BAD7-437C-B2A1-FEF7CE6D2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C43532-B905-4F80-BC98-AE0360CA81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31391-93CC-4B0D-AB03-D274C2D61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9C456-4C25-4490-BDB4-9B1579FF708A}" type="datetime1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8AC503-CEFC-42E8-8F67-32CEA6FB9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&amp; Communication Engg., MANIT, Bhopal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78CE0-2BB3-416C-94A4-7C83B3D91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0349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49118-3DC1-45EB-A8AC-774D1886E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2B2A5-9C57-4A49-9147-F065AE295B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223FCE-4166-4393-98BE-78E0D3CFB9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6A550B-17FC-4172-8FE5-6B43BB40E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0925E-3D46-4931-8922-4553DFBFD276}" type="datetime1">
              <a:rPr lang="en-IN" smtClean="0"/>
              <a:t>23-09-2026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344D6C-1922-4A3F-913E-49A85979D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&amp; Communication Engg., MANIT, Bhopal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374925-56E1-4080-A20C-BD5222228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2885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2272B-DFD1-451E-8FB8-BC7AF7818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16EC6F-6FB0-4FC0-8C27-01FEB76CE3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C0CC5F-9BF2-4BE2-9CCC-27F9F2D535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27579F-09FB-4ACA-89E8-310DB7E698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DC63AC-5ECC-4465-A0E1-FE1D3289C4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3877B6-2AF5-41C2-95ED-5972E7498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43382-936B-4139-9692-36A11D876D12}" type="datetime1">
              <a:rPr lang="en-IN" smtClean="0"/>
              <a:t>23-09-2026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088C15-E170-4B3F-A60A-B40FC33F1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&amp; Communication Engg., MANIT, Bhopal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71D98D-D9A8-4F80-B3FC-9AC34E548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6517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73B47-26CD-41C0-B440-ECA8C9056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259091-F4C6-44AA-9665-38EAED537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47151-68CC-46FD-90D4-2F9390F25482}" type="datetime1">
              <a:rPr lang="en-IN" smtClean="0"/>
              <a:t>23-09-2026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E4C0E6-E1CD-481C-AC1A-F057C2F2B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&amp; Communication Engg., MANIT, Bhopal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151EC9-868D-41B5-8BF2-880A6BEF3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6735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28A2DF-2791-4318-8FB1-C8B289F9D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9EC6F-B3BA-487C-BFC9-31F81D1507CC}" type="datetime1">
              <a:rPr lang="en-IN" smtClean="0"/>
              <a:t>23-09-2026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B23D96-F124-4F4E-B723-F01DB5A0E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&amp; Communication Engg., MANIT, Bhopal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10B1F-92EA-4E9C-8AAC-FAC00DF9F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5173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2B63A-5EF1-4E81-A814-93E32DFAA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16F1E-7236-46E2-8E55-1A4AC8E1DA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9DAEC3-23D8-46BA-B4F2-B6F4E90B6F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ED380B-872E-424F-BA59-858F12B7C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F5A7A-0A1A-481A-A66B-C9ABE28E858D}" type="datetime1">
              <a:rPr lang="en-IN" smtClean="0"/>
              <a:t>23-09-2026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4CCF02-25DC-4400-A051-271C90EE2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&amp; Communication Engg., MANIT, Bhopal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A5EBFE-51C3-468C-ACC5-092444E89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4183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2CA53-BBA8-449D-9555-78EAA702C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69DD1F-14DA-4F27-A8DC-136248AE8A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D8B63F-DDC8-4C25-B898-EBC5DD921B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10297D-033B-4462-88F9-C81412DE7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6C4D7-A4F7-420F-94EF-A939A86D9E5B}" type="datetime1">
              <a:rPr lang="en-IN" smtClean="0"/>
              <a:t>23-09-2026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A579B9-41CC-4CB6-A965-F2CF9B6FB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&amp; Communication Engg., MANIT, Bhopal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884E94-21EC-4769-A93E-5FB9611A4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4313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1F0E5-2249-4908-B7BD-28D897FD1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5F435F-9716-456B-ACD4-55D7786E5B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9EF7EB-3A97-4C95-862D-8F8574668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271CD-C8D4-4421-8718-17F87F84FA88}" type="datetime1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74CC87-8732-444D-9F33-E8565D7B9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&amp; Communication Engg., MANIT, Bhopal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40A40-A595-4A12-8BF5-ED5F06DE7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9815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224B07-B1DB-49F3-8BA7-D4A8BDA62B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7C8B50-3BA6-42C1-85D8-DA8F33CB28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F8B886-FB00-400A-8990-4F55A65CC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A7664-8265-4FC9-8741-04108820C3FE}" type="datetime1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B4D31-ACD5-4083-B33C-1A8D4D85B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&amp; Communication Engg., MANIT, Bhopal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1A380-0B01-490A-B410-A6A828BB3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8141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F98A44-5227-4C48-87DC-C67448FED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592986-F64B-42E6-BE04-EC0B654061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1E2F2A-4451-4F31-909A-199DEBBBFA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694C3D-1FB3-4030-85C3-22908444AF10}" type="datetime1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A1C70-D465-4F1F-B8BB-DC271CB5A4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Department of Electronics &amp; Communication Engg., MANIT, Bhopal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42A82-7D3C-4725-98C3-801D6C7243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6FAF6A-4925-4D1E-8078-ECEA644745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7317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F9F7857-AC26-4304-B66E-73394F616961}"/>
              </a:ext>
            </a:extLst>
          </p:cNvPr>
          <p:cNvSpPr/>
          <p:nvPr/>
        </p:nvSpPr>
        <p:spPr>
          <a:xfrm>
            <a:off x="231006" y="384779"/>
            <a:ext cx="1173319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of Topic</a:t>
            </a:r>
            <a:endParaRPr lang="en-IN" sz="32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7B8CD9-3D1F-483D-BBEB-6A8D39DAF6DE}"/>
              </a:ext>
            </a:extLst>
          </p:cNvPr>
          <p:cNvSpPr/>
          <p:nvPr/>
        </p:nvSpPr>
        <p:spPr>
          <a:xfrm>
            <a:off x="7804538" y="3148779"/>
            <a:ext cx="3537932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IN" sz="2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1</a:t>
            </a:fld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7B8CD9-3D1F-483D-BBEB-6A8D39DAF6DE}"/>
              </a:ext>
            </a:extLst>
          </p:cNvPr>
          <p:cNvSpPr/>
          <p:nvPr/>
        </p:nvSpPr>
        <p:spPr>
          <a:xfrm>
            <a:off x="849531" y="3148779"/>
            <a:ext cx="384893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IN" sz="2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Subject Coordinator</a:t>
            </a:r>
          </a:p>
          <a:p>
            <a:pPr lvl="0" algn="ctr"/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6363D2-DB0D-4A10-B437-643F7DD8D7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993537" y="3206293"/>
            <a:ext cx="2204923" cy="2204923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FF246CD6-8FEB-449A-9003-1A6A02E3DB5C}"/>
              </a:ext>
            </a:extLst>
          </p:cNvPr>
          <p:cNvSpPr/>
          <p:nvPr/>
        </p:nvSpPr>
        <p:spPr>
          <a:xfrm>
            <a:off x="0" y="5494960"/>
            <a:ext cx="12192000" cy="1260858"/>
          </a:xfrm>
          <a:prstGeom prst="rect">
            <a:avLst/>
          </a:prstGeom>
          <a:solidFill>
            <a:srgbClr val="A50021"/>
          </a:solidFill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endParaRPr lang="en-US" sz="500" b="1" dirty="0">
              <a:solidFill>
                <a:schemeClr val="bg1"/>
              </a:solidFill>
              <a:highlight>
                <a:srgbClr val="820019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2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AMRITA VISHWA VIDYAPEETHAM, DELHI NCR, FARIDABAD</a:t>
            </a:r>
            <a:endParaRPr lang="en-IN" sz="2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Artificial Intelligence</a:t>
            </a:r>
          </a:p>
          <a:p>
            <a:pPr lvl="0" algn="ctr">
              <a:lnSpc>
                <a:spcPct val="90000"/>
              </a:lnSpc>
              <a:spcBef>
                <a:spcPts val="1000"/>
              </a:spcBef>
            </a:pPr>
            <a:endParaRPr lang="en-IN" sz="500" b="1" dirty="0">
              <a:solidFill>
                <a:schemeClr val="bg1"/>
              </a:solidFill>
              <a:highlight>
                <a:srgbClr val="820019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5D2DAAE-74B7-4680-BB4D-D5C691249BAF}"/>
              </a:ext>
            </a:extLst>
          </p:cNvPr>
          <p:cNvSpPr/>
          <p:nvPr/>
        </p:nvSpPr>
        <p:spPr>
          <a:xfrm>
            <a:off x="7700210" y="3647697"/>
            <a:ext cx="4186989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of Student (Roll No.)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of Student (Roll No.)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of Student (Roll No.)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of Student (Roll No.)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of Student (Roll No.)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11C5D32-BE35-4980-8AD8-4602B7073937}"/>
              </a:ext>
            </a:extLst>
          </p:cNvPr>
          <p:cNvSpPr/>
          <p:nvPr/>
        </p:nvSpPr>
        <p:spPr>
          <a:xfrm>
            <a:off x="229400" y="1692210"/>
            <a:ext cx="11733196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B.Tech (AIDS/ AIDS (ME))</a:t>
            </a:r>
          </a:p>
          <a:p>
            <a:pPr algn="ctr"/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UG-II (II/IV-Semester)</a:t>
            </a:r>
            <a:endParaRPr lang="en-IN" sz="2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8622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2</a:t>
            </a:fld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ED3DBC-22DE-4A82-AEE4-12319751E610}"/>
              </a:ext>
            </a:extLst>
          </p:cNvPr>
          <p:cNvSpPr/>
          <p:nvPr/>
        </p:nvSpPr>
        <p:spPr>
          <a:xfrm>
            <a:off x="285898" y="1104622"/>
            <a:ext cx="11662261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project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Tools and Technologies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Experimental setup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Results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&amp; Future scope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References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EB24E1-EFE8-4D6C-A0BF-6C337B6CDBE1}"/>
              </a:ext>
            </a:extLst>
          </p:cNvPr>
          <p:cNvSpPr txBox="1"/>
          <p:nvPr/>
        </p:nvSpPr>
        <p:spPr>
          <a:xfrm>
            <a:off x="1141941" y="420286"/>
            <a:ext cx="6106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CONTENTS</a:t>
            </a:r>
            <a:endParaRPr kumimoji="0" lang="en-IN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72D857B-6114-487D-901F-3BE3414CF24C}"/>
              </a:ext>
            </a:extLst>
          </p:cNvPr>
          <p:cNvGrpSpPr/>
          <p:nvPr/>
        </p:nvGrpSpPr>
        <p:grpSpPr>
          <a:xfrm>
            <a:off x="264160" y="1015735"/>
            <a:ext cx="11684000" cy="45719"/>
            <a:chOff x="680720" y="1391920"/>
            <a:chExt cx="10922000" cy="40640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4BCFDA0-1B03-47DF-AE91-84DA533C967E}"/>
                </a:ext>
              </a:extLst>
            </p:cNvPr>
            <p:cNvCxnSpPr/>
            <p:nvPr/>
          </p:nvCxnSpPr>
          <p:spPr>
            <a:xfrm>
              <a:off x="680720" y="1391920"/>
              <a:ext cx="1090168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FF5372F-8F94-452E-A69C-686724A91017}"/>
                </a:ext>
              </a:extLst>
            </p:cNvPr>
            <p:cNvCxnSpPr/>
            <p:nvPr/>
          </p:nvCxnSpPr>
          <p:spPr>
            <a:xfrm>
              <a:off x="701040" y="1432560"/>
              <a:ext cx="1090168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16CB7D16-D977-46B5-BBD4-054E93ACF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67014"/>
            <a:ext cx="12192000" cy="389106"/>
          </a:xfrm>
          <a:solidFill>
            <a:srgbClr val="820019"/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Artificial Intelligence and Data Science, Amruta Vishwa Vidyapeetham, Delhi NCR, Faridabad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3F60880-C49B-4910-AA31-4A863CB77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69" y="44663"/>
            <a:ext cx="971072" cy="971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222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47DD2-DB07-A0D6-2477-3B29187D7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B1CF24-B971-CBFF-0568-D54310410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3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0729FB-B169-BF4E-15A2-C21E69787699}"/>
              </a:ext>
            </a:extLst>
          </p:cNvPr>
          <p:cNvSpPr txBox="1"/>
          <p:nvPr/>
        </p:nvSpPr>
        <p:spPr>
          <a:xfrm>
            <a:off x="1180444" y="420286"/>
            <a:ext cx="97720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(Font size 24)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1586D3F-CFEB-588C-6A57-E6CA6C04CBF4}"/>
              </a:ext>
            </a:extLst>
          </p:cNvPr>
          <p:cNvGrpSpPr/>
          <p:nvPr/>
        </p:nvGrpSpPr>
        <p:grpSpPr>
          <a:xfrm>
            <a:off x="264160" y="1015735"/>
            <a:ext cx="11684000" cy="45719"/>
            <a:chOff x="680720" y="1391920"/>
            <a:chExt cx="10922000" cy="40640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A79684F-D9BF-C1FC-9FB2-66E7E479F2E8}"/>
                </a:ext>
              </a:extLst>
            </p:cNvPr>
            <p:cNvCxnSpPr/>
            <p:nvPr/>
          </p:nvCxnSpPr>
          <p:spPr>
            <a:xfrm>
              <a:off x="680720" y="1391920"/>
              <a:ext cx="1090168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FD9A56E-4F97-9A5C-1C8F-74CFF507ADBC}"/>
                </a:ext>
              </a:extLst>
            </p:cNvPr>
            <p:cNvCxnSpPr/>
            <p:nvPr/>
          </p:nvCxnSpPr>
          <p:spPr>
            <a:xfrm>
              <a:off x="701040" y="1432560"/>
              <a:ext cx="1090168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7DC662D4-09F8-31FE-4DBC-9CCC617B3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67014"/>
            <a:ext cx="12192000" cy="389106"/>
          </a:xfrm>
          <a:solidFill>
            <a:srgbClr val="820019"/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Artificial Intelligence and Data Science, Amruta Vishwa Vidyapeetham, Delhi NCR, Faridabad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C7B746D-9102-FAC7-78A0-449051F88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69" y="44663"/>
            <a:ext cx="971072" cy="9710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D75B423-21FE-AE93-5336-E547BBA30173}"/>
              </a:ext>
            </a:extLst>
          </p:cNvPr>
          <p:cNvSpPr txBox="1"/>
          <p:nvPr/>
        </p:nvSpPr>
        <p:spPr>
          <a:xfrm>
            <a:off x="365760" y="1375968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000000"/>
                </a:solidFill>
              </a:defRPr>
            </a:pPr>
            <a:r>
              <a:rPr lang="en-US" dirty="0"/>
              <a:t>Describe the engineering problem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rPr lang="en-US" dirty="0"/>
              <a:t>Explain why it is important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rPr lang="en-US" dirty="0"/>
              <a:t>Mention real-world applications, statistics, etc.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61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4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EB24E1-EFE8-4D6C-A0BF-6C337B6CDBE1}"/>
              </a:ext>
            </a:extLst>
          </p:cNvPr>
          <p:cNvSpPr txBox="1"/>
          <p:nvPr/>
        </p:nvSpPr>
        <p:spPr>
          <a:xfrm>
            <a:off x="1180444" y="420286"/>
            <a:ext cx="61061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Literature Review (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 size 24)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72D857B-6114-487D-901F-3BE3414CF24C}"/>
              </a:ext>
            </a:extLst>
          </p:cNvPr>
          <p:cNvGrpSpPr/>
          <p:nvPr/>
        </p:nvGrpSpPr>
        <p:grpSpPr>
          <a:xfrm>
            <a:off x="264160" y="1015735"/>
            <a:ext cx="11684000" cy="45719"/>
            <a:chOff x="680720" y="1391920"/>
            <a:chExt cx="10922000" cy="40640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4BCFDA0-1B03-47DF-AE91-84DA533C967E}"/>
                </a:ext>
              </a:extLst>
            </p:cNvPr>
            <p:cNvCxnSpPr/>
            <p:nvPr/>
          </p:nvCxnSpPr>
          <p:spPr>
            <a:xfrm>
              <a:off x="680720" y="1391920"/>
              <a:ext cx="1090168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FF5372F-8F94-452E-A69C-686724A91017}"/>
                </a:ext>
              </a:extLst>
            </p:cNvPr>
            <p:cNvCxnSpPr/>
            <p:nvPr/>
          </p:nvCxnSpPr>
          <p:spPr>
            <a:xfrm>
              <a:off x="701040" y="1432560"/>
              <a:ext cx="1090168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FB314557-CE86-4F11-8AB0-0FF019C94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67014"/>
            <a:ext cx="12192000" cy="389106"/>
          </a:xfrm>
          <a:solidFill>
            <a:srgbClr val="820019"/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Artificial Intelligence and Data Science, Amruta Vishwa Vidyapeetham, Delhi NCR, Faridabad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69453CB-B78C-4457-AD4D-A05E8BA74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69" y="44663"/>
            <a:ext cx="971072" cy="9710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497B15C-E402-6A2C-6000-D46DF40871F5}"/>
              </a:ext>
            </a:extLst>
          </p:cNvPr>
          <p:cNvSpPr txBox="1"/>
          <p:nvPr/>
        </p:nvSpPr>
        <p:spPr>
          <a:xfrm>
            <a:off x="577269" y="1268247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000000"/>
                </a:solidFill>
              </a:defRPr>
            </a:pPr>
            <a:r>
              <a:rPr lang="en-US" dirty="0"/>
              <a:t>Paper / System 1 – Method – Limitation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rPr lang="en-US" dirty="0"/>
              <a:t>Paper / System 2 – Method – Limitation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rPr lang="en-US" dirty="0"/>
              <a:t>Paper / System 3 – Method – Limitation</a:t>
            </a:r>
          </a:p>
        </p:txBody>
      </p:sp>
    </p:spTree>
    <p:extLst>
      <p:ext uri="{BB962C8B-B14F-4D97-AF65-F5344CB8AC3E}">
        <p14:creationId xmlns:p14="http://schemas.microsoft.com/office/powerpoint/2010/main" val="79963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5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EB24E1-EFE8-4D6C-A0BF-6C337B6CDBE1}"/>
              </a:ext>
            </a:extLst>
          </p:cNvPr>
          <p:cNvSpPr txBox="1"/>
          <p:nvPr/>
        </p:nvSpPr>
        <p:spPr>
          <a:xfrm>
            <a:off x="1180444" y="420286"/>
            <a:ext cx="97720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Objective of the Project (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 size 24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72D857B-6114-487D-901F-3BE3414CF24C}"/>
              </a:ext>
            </a:extLst>
          </p:cNvPr>
          <p:cNvGrpSpPr/>
          <p:nvPr/>
        </p:nvGrpSpPr>
        <p:grpSpPr>
          <a:xfrm>
            <a:off x="264160" y="1015735"/>
            <a:ext cx="11684000" cy="45719"/>
            <a:chOff x="680720" y="1391920"/>
            <a:chExt cx="10922000" cy="40640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4BCFDA0-1B03-47DF-AE91-84DA533C967E}"/>
                </a:ext>
              </a:extLst>
            </p:cNvPr>
            <p:cNvCxnSpPr/>
            <p:nvPr/>
          </p:nvCxnSpPr>
          <p:spPr>
            <a:xfrm>
              <a:off x="680720" y="1391920"/>
              <a:ext cx="1090168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FF5372F-8F94-452E-A69C-686724A91017}"/>
                </a:ext>
              </a:extLst>
            </p:cNvPr>
            <p:cNvCxnSpPr/>
            <p:nvPr/>
          </p:nvCxnSpPr>
          <p:spPr>
            <a:xfrm>
              <a:off x="701040" y="1432560"/>
              <a:ext cx="1090168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29250C7A-F039-43BA-807B-A2C20BBA9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67014"/>
            <a:ext cx="12192000" cy="389106"/>
          </a:xfrm>
          <a:solidFill>
            <a:srgbClr val="820019"/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Artificial Intelligence and Data Science, Amruta Vishwa Vidyapeetham, Delhi NCR, Faridabad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5F080FF-9C64-4CA6-B9B8-6689260DC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69" y="44663"/>
            <a:ext cx="971072" cy="9710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F600CE3-A9E8-3914-4A14-61F8238C3E22}"/>
              </a:ext>
            </a:extLst>
          </p:cNvPr>
          <p:cNvSpPr txBox="1"/>
          <p:nvPr/>
        </p:nvSpPr>
        <p:spPr>
          <a:xfrm>
            <a:off x="365760" y="1375968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</a:defRPr>
            </a:pPr>
            <a:r>
              <a:rPr lang="en-US" dirty="0"/>
              <a:t>Objective 1</a:t>
            </a:r>
          </a:p>
          <a:p>
            <a:pPr marL="342900" indent="-342900"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</a:defRPr>
            </a:pPr>
            <a:r>
              <a:rPr lang="en-US" dirty="0"/>
              <a:t>Objective 2</a:t>
            </a:r>
          </a:p>
          <a:p>
            <a:pPr marL="342900" indent="-342900"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</a:defRPr>
            </a:pPr>
            <a:r>
              <a:rPr lang="en-US" dirty="0"/>
              <a:t>Objective 3</a:t>
            </a:r>
          </a:p>
        </p:txBody>
      </p:sp>
    </p:spTree>
    <p:extLst>
      <p:ext uri="{BB962C8B-B14F-4D97-AF65-F5344CB8AC3E}">
        <p14:creationId xmlns:p14="http://schemas.microsoft.com/office/powerpoint/2010/main" val="4277054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6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EB24E1-EFE8-4D6C-A0BF-6C337B6CDBE1}"/>
              </a:ext>
            </a:extLst>
          </p:cNvPr>
          <p:cNvSpPr txBox="1"/>
          <p:nvPr/>
        </p:nvSpPr>
        <p:spPr>
          <a:xfrm>
            <a:off x="1180444" y="430960"/>
            <a:ext cx="93961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Proposed Methodology (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 size 24)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72D857B-6114-487D-901F-3BE3414CF24C}"/>
              </a:ext>
            </a:extLst>
          </p:cNvPr>
          <p:cNvGrpSpPr/>
          <p:nvPr/>
        </p:nvGrpSpPr>
        <p:grpSpPr>
          <a:xfrm>
            <a:off x="264160" y="1015735"/>
            <a:ext cx="11684000" cy="45719"/>
            <a:chOff x="680720" y="1391920"/>
            <a:chExt cx="10922000" cy="40640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4BCFDA0-1B03-47DF-AE91-84DA533C967E}"/>
                </a:ext>
              </a:extLst>
            </p:cNvPr>
            <p:cNvCxnSpPr/>
            <p:nvPr/>
          </p:nvCxnSpPr>
          <p:spPr>
            <a:xfrm>
              <a:off x="680720" y="1391920"/>
              <a:ext cx="1090168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FF5372F-8F94-452E-A69C-686724A91017}"/>
                </a:ext>
              </a:extLst>
            </p:cNvPr>
            <p:cNvCxnSpPr/>
            <p:nvPr/>
          </p:nvCxnSpPr>
          <p:spPr>
            <a:xfrm>
              <a:off x="701040" y="1432560"/>
              <a:ext cx="1090168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26DDDB2C-2E5E-4C7E-AC6C-BFBF3AB412CF}"/>
              </a:ext>
            </a:extLst>
          </p:cNvPr>
          <p:cNvSpPr txBox="1"/>
          <p:nvPr/>
        </p:nvSpPr>
        <p:spPr>
          <a:xfrm>
            <a:off x="396241" y="1369150"/>
            <a:ext cx="11385856" cy="3303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000000"/>
                </a:solidFill>
              </a:defRPr>
            </a:pPr>
            <a:r>
              <a:rPr lang="en-US" dirty="0"/>
              <a:t>Explain the proposed solution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rPr lang="en-US" dirty="0"/>
              <a:t>Include system architecture or block diagram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rPr lang="en-US" dirty="0"/>
              <a:t>Describe working principle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rPr lang="en-US" dirty="0"/>
              <a:t>Step 1 – Data collection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rPr lang="en-US" dirty="0"/>
              <a:t>Step 2 – Preprocessing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rPr lang="en-US" dirty="0"/>
              <a:t>Step 3 – Model / System development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rPr lang="en-US" dirty="0"/>
              <a:t>Step 4 – Testing and evaluation</a:t>
            </a:r>
          </a:p>
          <a:p>
            <a:pPr>
              <a:lnSpc>
                <a:spcPct val="20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B9C29719-C192-4010-8F70-EBE1E066F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67014"/>
            <a:ext cx="12192000" cy="389106"/>
          </a:xfrm>
          <a:solidFill>
            <a:srgbClr val="820019"/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Artificial Intelligence and Data Science, Amruta Vishwa Vidyapeetham, Delhi NCR, Faridabad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19E0FE1-17DB-4035-B5FC-C05C4BD59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69" y="44663"/>
            <a:ext cx="971072" cy="971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544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77A01-3FC2-02AD-0F54-55A22D26C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06486B-C201-CB9D-3DF1-389481BB5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7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BF338B-A63F-DABC-08DF-F29DF264C816}"/>
              </a:ext>
            </a:extLst>
          </p:cNvPr>
          <p:cNvSpPr txBox="1"/>
          <p:nvPr/>
        </p:nvSpPr>
        <p:spPr>
          <a:xfrm>
            <a:off x="1180444" y="430960"/>
            <a:ext cx="93961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b="1" dirty="0"/>
              <a:t>Tools &amp; Technologies </a:t>
            </a: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 size 24)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6281D76-D098-2E8B-2BA8-9709BC4C8DA3}"/>
              </a:ext>
            </a:extLst>
          </p:cNvPr>
          <p:cNvGrpSpPr/>
          <p:nvPr/>
        </p:nvGrpSpPr>
        <p:grpSpPr>
          <a:xfrm>
            <a:off x="264160" y="1015735"/>
            <a:ext cx="11684000" cy="45719"/>
            <a:chOff x="680720" y="1391920"/>
            <a:chExt cx="10922000" cy="40640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8C36AEC-6261-BE10-32F8-54B4DB7737DD}"/>
                </a:ext>
              </a:extLst>
            </p:cNvPr>
            <p:cNvCxnSpPr/>
            <p:nvPr/>
          </p:nvCxnSpPr>
          <p:spPr>
            <a:xfrm>
              <a:off x="680720" y="1391920"/>
              <a:ext cx="1090168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E59306C-16D9-7821-7A5F-2073B4078566}"/>
                </a:ext>
              </a:extLst>
            </p:cNvPr>
            <p:cNvCxnSpPr/>
            <p:nvPr/>
          </p:nvCxnSpPr>
          <p:spPr>
            <a:xfrm>
              <a:off x="701040" y="1432560"/>
              <a:ext cx="1090168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DDBD2D5C-C6D1-769B-5974-5806BB1499E4}"/>
              </a:ext>
            </a:extLst>
          </p:cNvPr>
          <p:cNvSpPr txBox="1"/>
          <p:nvPr/>
        </p:nvSpPr>
        <p:spPr>
          <a:xfrm>
            <a:off x="396241" y="1369150"/>
            <a:ext cx="11385856" cy="1826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000000"/>
                </a:solidFill>
              </a:defRPr>
            </a:pPr>
            <a:r>
              <a:rPr lang="en-US" dirty="0"/>
              <a:t>Software: Python / MATLAB / TensorFlow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rPr lang="en-US" dirty="0"/>
              <a:t>Hardware: Arduino / Raspberry Pi / Sensors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rPr lang="en-US" dirty="0"/>
              <a:t>Other tools used in the project</a:t>
            </a:r>
          </a:p>
          <a:p>
            <a:pPr>
              <a:lnSpc>
                <a:spcPct val="20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1F0ACA74-3033-CBD0-EBD9-C3FAB6F16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67014"/>
            <a:ext cx="12192000" cy="389106"/>
          </a:xfrm>
          <a:solidFill>
            <a:srgbClr val="820019"/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Artificial Intelligence and Data Science, Amruta Vishwa Vidyapeetham, Delhi NCR, Faridabad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B636DCE-6850-3706-1E53-D330CB51E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69" y="44663"/>
            <a:ext cx="971072" cy="971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2046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94038-EDEA-48A0-BE94-DFD0F39A3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E5E39D-C17C-0547-F8D7-F6096FF71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8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93D674-41D8-4EA1-D6AC-5B9A8B761D85}"/>
              </a:ext>
            </a:extLst>
          </p:cNvPr>
          <p:cNvSpPr txBox="1"/>
          <p:nvPr/>
        </p:nvSpPr>
        <p:spPr>
          <a:xfrm>
            <a:off x="1180444" y="430960"/>
            <a:ext cx="93961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b="1" dirty="0"/>
              <a:t>Experimental Setup </a:t>
            </a: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 size 24)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AB18A85-B1A5-598B-B916-6C5E766A0BB5}"/>
              </a:ext>
            </a:extLst>
          </p:cNvPr>
          <p:cNvGrpSpPr/>
          <p:nvPr/>
        </p:nvGrpSpPr>
        <p:grpSpPr>
          <a:xfrm>
            <a:off x="264160" y="1015735"/>
            <a:ext cx="11684000" cy="45719"/>
            <a:chOff x="680720" y="1391920"/>
            <a:chExt cx="10922000" cy="40640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CED1E01-C70B-FAAB-D647-AAB962E22EE7}"/>
                </a:ext>
              </a:extLst>
            </p:cNvPr>
            <p:cNvCxnSpPr/>
            <p:nvPr/>
          </p:nvCxnSpPr>
          <p:spPr>
            <a:xfrm>
              <a:off x="680720" y="1391920"/>
              <a:ext cx="1090168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AFE0EEB-5C28-2786-34D8-D4EDCE87C976}"/>
                </a:ext>
              </a:extLst>
            </p:cNvPr>
            <p:cNvCxnSpPr/>
            <p:nvPr/>
          </p:nvCxnSpPr>
          <p:spPr>
            <a:xfrm>
              <a:off x="701040" y="1432560"/>
              <a:ext cx="1090168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47F70217-21A8-CA58-DDAC-46521D489CBA}"/>
              </a:ext>
            </a:extLst>
          </p:cNvPr>
          <p:cNvSpPr txBox="1"/>
          <p:nvPr/>
        </p:nvSpPr>
        <p:spPr>
          <a:xfrm>
            <a:off x="396241" y="1369150"/>
            <a:ext cx="11385856" cy="1826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000000"/>
                </a:solidFill>
              </a:defRPr>
            </a:pPr>
            <a:r>
              <a:rPr lang="en-US" dirty="0"/>
              <a:t>Dataset description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rPr lang="en-US" dirty="0"/>
              <a:t>Number of samples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rPr lang="en-US" dirty="0"/>
              <a:t>Hardware / simulation environment</a:t>
            </a:r>
          </a:p>
          <a:p>
            <a:pPr>
              <a:lnSpc>
                <a:spcPct val="20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216359EC-3102-8F68-58F2-E4FFA206A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67014"/>
            <a:ext cx="12192000" cy="389106"/>
          </a:xfrm>
          <a:solidFill>
            <a:srgbClr val="820019"/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Artificial Intelligence and Data Science, Amruta Vishwa Vidyapeetham, Delhi NCR, Faridabad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AA8C519-12A8-34D7-71FF-CDEBCBD18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69" y="44663"/>
            <a:ext cx="971072" cy="971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270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52C41-1074-2883-4738-AE97FEAA7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F6ACC2-694B-82B6-8632-3C8FD51D0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9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FD0367-A764-D9DF-5CE9-41A65E18A3C3}"/>
              </a:ext>
            </a:extLst>
          </p:cNvPr>
          <p:cNvSpPr txBox="1"/>
          <p:nvPr/>
        </p:nvSpPr>
        <p:spPr>
          <a:xfrm>
            <a:off x="1235232" y="430960"/>
            <a:ext cx="93961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b="1" dirty="0"/>
              <a:t>Results </a:t>
            </a: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 size 24)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1C24C13-9C5F-CA04-4016-D898B23360EE}"/>
              </a:ext>
            </a:extLst>
          </p:cNvPr>
          <p:cNvGrpSpPr/>
          <p:nvPr/>
        </p:nvGrpSpPr>
        <p:grpSpPr>
          <a:xfrm>
            <a:off x="264160" y="1015735"/>
            <a:ext cx="11684000" cy="45719"/>
            <a:chOff x="680720" y="1391920"/>
            <a:chExt cx="10922000" cy="40640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A7DAF47-B0A8-4001-C2EA-4D7096EF3F02}"/>
                </a:ext>
              </a:extLst>
            </p:cNvPr>
            <p:cNvCxnSpPr/>
            <p:nvPr/>
          </p:nvCxnSpPr>
          <p:spPr>
            <a:xfrm>
              <a:off x="680720" y="1391920"/>
              <a:ext cx="1090168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16DEDF8-2BE2-FEC2-30BC-D26661D2221D}"/>
                </a:ext>
              </a:extLst>
            </p:cNvPr>
            <p:cNvCxnSpPr/>
            <p:nvPr/>
          </p:nvCxnSpPr>
          <p:spPr>
            <a:xfrm>
              <a:off x="701040" y="1432560"/>
              <a:ext cx="1090168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38DE98D0-7FE5-1386-BCDF-EA749693F03C}"/>
              </a:ext>
            </a:extLst>
          </p:cNvPr>
          <p:cNvSpPr txBox="1"/>
          <p:nvPr/>
        </p:nvSpPr>
        <p:spPr>
          <a:xfrm>
            <a:off x="396241" y="1369150"/>
            <a:ext cx="113858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000000"/>
                </a:solidFill>
              </a:defRPr>
            </a:pPr>
            <a:r>
              <a:rPr lang="en-US" dirty="0"/>
              <a:t>Initial results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rPr lang="en-US" dirty="0"/>
              <a:t>Graphs or performance metrics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rPr lang="en-US" dirty="0"/>
              <a:t>Prototype images (if available)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67DF8C31-B7B8-432B-0659-9C8B32CA0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67014"/>
            <a:ext cx="12192000" cy="389106"/>
          </a:xfrm>
          <a:solidFill>
            <a:srgbClr val="820019"/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Artificial Intelligence and Data Science, Amruta Vishwa Vidyapeetham, Delhi NCR, Faridabad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CA801F8-68C8-B0B6-E87A-DC523D364B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69" y="44663"/>
            <a:ext cx="971072" cy="971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97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7FEE9-347A-6032-ECC8-EDE6DA941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1C5848-B248-2351-7CC9-2DC5F5873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10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C41C26-379A-C842-986F-F02F07FE7DF9}"/>
              </a:ext>
            </a:extLst>
          </p:cNvPr>
          <p:cNvSpPr txBox="1"/>
          <p:nvPr/>
        </p:nvSpPr>
        <p:spPr>
          <a:xfrm>
            <a:off x="1235232" y="430960"/>
            <a:ext cx="93961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b="1" dirty="0"/>
              <a:t>Challenges </a:t>
            </a: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 size 24)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0B41292-1277-61EF-0626-12780F5B9709}"/>
              </a:ext>
            </a:extLst>
          </p:cNvPr>
          <p:cNvGrpSpPr/>
          <p:nvPr/>
        </p:nvGrpSpPr>
        <p:grpSpPr>
          <a:xfrm>
            <a:off x="264160" y="1015735"/>
            <a:ext cx="11684000" cy="45719"/>
            <a:chOff x="680720" y="1391920"/>
            <a:chExt cx="10922000" cy="40640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90C3F6E-8C05-4311-C706-DB31B9254C50}"/>
                </a:ext>
              </a:extLst>
            </p:cNvPr>
            <p:cNvCxnSpPr/>
            <p:nvPr/>
          </p:nvCxnSpPr>
          <p:spPr>
            <a:xfrm>
              <a:off x="680720" y="1391920"/>
              <a:ext cx="1090168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EF88D09-53BF-3D11-185B-6D2C9542A36F}"/>
                </a:ext>
              </a:extLst>
            </p:cNvPr>
            <p:cNvCxnSpPr/>
            <p:nvPr/>
          </p:nvCxnSpPr>
          <p:spPr>
            <a:xfrm>
              <a:off x="701040" y="1432560"/>
              <a:ext cx="1090168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9FBEAC71-D32E-FC7C-7FD3-DA3B1CB52D71}"/>
              </a:ext>
            </a:extLst>
          </p:cNvPr>
          <p:cNvSpPr txBox="1"/>
          <p:nvPr/>
        </p:nvSpPr>
        <p:spPr>
          <a:xfrm>
            <a:off x="396241" y="1369150"/>
            <a:ext cx="113858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000000"/>
                </a:solidFill>
              </a:defRPr>
            </a:pPr>
            <a:r>
              <a:rPr lang="en-US" dirty="0"/>
              <a:t>Technical issues faced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rPr lang="en-US" dirty="0"/>
              <a:t>Dataset limitations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rPr lang="en-US" dirty="0"/>
              <a:t>Hardware or integration problems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F46057C9-8D30-E9BC-3339-4EA0C5B04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67014"/>
            <a:ext cx="12192000" cy="389106"/>
          </a:xfrm>
          <a:solidFill>
            <a:srgbClr val="820019"/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Artificial Intelligence and Data Science, Amruta Vishwa Vidyapeetham, Delhi NCR, Faridabad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D6C487E-EA10-0DC5-748B-3D19CF0B4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69" y="44663"/>
            <a:ext cx="971072" cy="971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510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11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EB24E1-EFE8-4D6C-A0BF-6C337B6CDBE1}"/>
              </a:ext>
            </a:extLst>
          </p:cNvPr>
          <p:cNvSpPr txBox="1"/>
          <p:nvPr/>
        </p:nvSpPr>
        <p:spPr>
          <a:xfrm>
            <a:off x="1180444" y="430960"/>
            <a:ext cx="905067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Conclusions &amp; Future scope (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 size 24)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72D857B-6114-487D-901F-3BE3414CF24C}"/>
              </a:ext>
            </a:extLst>
          </p:cNvPr>
          <p:cNvGrpSpPr/>
          <p:nvPr/>
        </p:nvGrpSpPr>
        <p:grpSpPr>
          <a:xfrm>
            <a:off x="264160" y="1015735"/>
            <a:ext cx="11684000" cy="45719"/>
            <a:chOff x="680720" y="1391920"/>
            <a:chExt cx="10922000" cy="40640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4BCFDA0-1B03-47DF-AE91-84DA533C967E}"/>
                </a:ext>
              </a:extLst>
            </p:cNvPr>
            <p:cNvCxnSpPr/>
            <p:nvPr/>
          </p:nvCxnSpPr>
          <p:spPr>
            <a:xfrm>
              <a:off x="680720" y="1391920"/>
              <a:ext cx="1090168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FF5372F-8F94-452E-A69C-686724A91017}"/>
                </a:ext>
              </a:extLst>
            </p:cNvPr>
            <p:cNvCxnSpPr/>
            <p:nvPr/>
          </p:nvCxnSpPr>
          <p:spPr>
            <a:xfrm>
              <a:off x="701040" y="1432560"/>
              <a:ext cx="1090168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26DDDB2C-2E5E-4C7E-AC6C-BFBF3AB412CF}"/>
              </a:ext>
            </a:extLst>
          </p:cNvPr>
          <p:cNvSpPr txBox="1"/>
          <p:nvPr/>
        </p:nvSpPr>
        <p:spPr>
          <a:xfrm>
            <a:off x="264161" y="1369150"/>
            <a:ext cx="11517936" cy="2777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of work completed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 or impact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 remaining before final evaluation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Improvements planned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F489F61D-C92D-4CFA-BCB0-7AC343B2C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67014"/>
            <a:ext cx="12192000" cy="389106"/>
          </a:xfrm>
          <a:solidFill>
            <a:srgbClr val="820019"/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Artificial Intelligence and Data Science, Amruta Vishwa Vidyapeetham, Delhi NCR, Faridabad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1DE6EB8-B0AB-4FE0-A649-00E345ACC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69" y="44663"/>
            <a:ext cx="971072" cy="971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0746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12</a:t>
            </a:fld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172286" y="1765381"/>
            <a:ext cx="1119892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R. L. Siegel, K. D. Miller, H. E. Fuchs, and A. Jemal, “Cancer statistics, 2021,” CA: a cancer journal for clinicians, vol. 71, no. 1, pp. 7–33, 2021. 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W. H. Organization, “Annual report,” WHO, 2021. 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NBCC, “Breast cancer facts and figures,” January 2021.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X. Zhou, C. Li, M. M.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Rahaman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Y. Yao, S. Ai, C. Sun, Q. Wang, Y. Zhang, M. Li, X. Li et al., “A comprehensive review for breast histopathology image analysis using classical and deep neural networks,” </a:t>
            </a:r>
            <a:r>
              <a:rPr lang="en-US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IEEE Access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vol. 8, pp. 90 931–90 956, 2020. 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C30923-775B-4C23-911A-F794CB817EC5}"/>
              </a:ext>
            </a:extLst>
          </p:cNvPr>
          <p:cNvSpPr txBox="1"/>
          <p:nvPr/>
        </p:nvSpPr>
        <p:spPr>
          <a:xfrm>
            <a:off x="1141941" y="172292"/>
            <a:ext cx="1115915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000000"/>
                </a:solidFill>
              </a:defRPr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Times New Roman"/>
                <a:cs typeface="+mn-cs"/>
              </a:rPr>
              <a:t>References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Times New Roman"/>
                <a:cs typeface="+mn-cs"/>
              </a:rPr>
              <a:t>:</a:t>
            </a:r>
            <a:endParaRPr lang="en-US" sz="2800" dirty="0"/>
          </a:p>
          <a:p>
            <a:pPr marL="228600" marR="0" lvl="0" indent="-762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28600" algn="l"/>
                <a:tab pos="457200" algn="l"/>
              </a:tabLst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Times New Roman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B13AAB-5FA3-4E7E-B8DD-DD0286BB5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600" y="901232"/>
            <a:ext cx="11565114" cy="164606"/>
          </a:xfrm>
          <a:prstGeom prst="rect">
            <a:avLst/>
          </a:prstGeom>
        </p:spPr>
      </p:pic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3710AE7D-6F6B-481B-BAF2-186D0C303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67014"/>
            <a:ext cx="12192000" cy="389106"/>
          </a:xfrm>
          <a:solidFill>
            <a:srgbClr val="820019"/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Artificial Intelligence and Data Science, Amruta Vishwa Vidyapeetham, Delhi NCR, Faridabad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396D429-9211-43C3-BFD1-63D7E70319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286" y="-70039"/>
            <a:ext cx="971072" cy="97107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B8D728C-2298-42C4-01D2-74AB5EB5DC90}"/>
              </a:ext>
            </a:extLst>
          </p:cNvPr>
          <p:cNvSpPr txBox="1"/>
          <p:nvPr/>
        </p:nvSpPr>
        <p:spPr>
          <a:xfrm>
            <a:off x="363220" y="1261969"/>
            <a:ext cx="10060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Times New Roman"/>
                <a:cs typeface="+mn-cs"/>
              </a:rPr>
              <a:t>(</a:t>
            </a:r>
            <a:r>
              <a:rPr lang="en-US" sz="1800" dirty="0">
                <a:solidFill>
                  <a:srgbClr val="FF0000"/>
                </a:solidFill>
              </a:rPr>
              <a:t>Use IEEE citation format, Include journals, conferences, or books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55900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13</a:t>
            </a:fld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4088859" y="1896636"/>
            <a:ext cx="3294434" cy="1938992"/>
          </a:xfrm>
          <a:prstGeom prst="rect">
            <a:avLst/>
          </a:prstGeom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endParaRPr lang="en-US" sz="40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Times New Roman"/>
            </a:endParaRPr>
          </a:p>
          <a:p>
            <a:r>
              <a:rPr lang="en-US" sz="40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Times New Roman"/>
              </a:rPr>
              <a:t> Thank </a:t>
            </a:r>
          </a:p>
          <a:p>
            <a:r>
              <a:rPr lang="en-US" sz="40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Times New Roman"/>
              </a:rPr>
              <a:t>		You</a:t>
            </a:r>
            <a:endParaRPr lang="en-US" sz="40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74949C26-9139-44BC-96A0-A9F2DE340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67014"/>
            <a:ext cx="12192000" cy="389106"/>
          </a:xfrm>
          <a:solidFill>
            <a:srgbClr val="820019"/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Artificial Intelligence and Data Science, Amruta Vishwa Vidyapeetham, Delhi NCR, Faridabad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9757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693</Words>
  <Application>Microsoft Office PowerPoint</Application>
  <PresentationFormat>Widescreen</PresentationFormat>
  <Paragraphs>101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Sakshi Ahuja</dc:creator>
  <cp:lastModifiedBy>vijaykumar soni</cp:lastModifiedBy>
  <cp:revision>2</cp:revision>
  <dcterms:modified xsi:type="dcterms:W3CDTF">2026-09-23T09:06:20Z</dcterms:modified>
</cp:coreProperties>
</file>